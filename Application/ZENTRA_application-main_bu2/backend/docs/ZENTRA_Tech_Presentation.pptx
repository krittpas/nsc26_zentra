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CEDT Innovation Summit 2026  ·  IndustryTech Track  ·  ทีม 3 คน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943600" y="457200"/>
            <a:ext cx="2743200" cy="2743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132320" y="1371600"/>
            <a:ext cx="1280160" cy="128016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2286000"/>
            <a:ext cx="914400" cy="9144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5486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ZENTRA</a:t>
            </a:r>
            <a:endParaRPr lang="en-US" sz="8000" dirty="0"/>
          </a:p>
        </p:txBody>
      </p:sp>
      <p:sp>
        <p:nvSpPr>
          <p:cNvPr id="29" name="Shape 26"/>
          <p:cNvSpPr/>
          <p:nvPr/>
        </p:nvSpPr>
        <p:spPr>
          <a:xfrm>
            <a:off x="365760" y="1920240"/>
            <a:ext cx="50292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2057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pPr indent="0" marL="0">
              <a:buNone/>
            </a:pPr>
            <a:r>
              <a:rPr lang="en-US" sz="17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nvironment  </a:t>
            </a:r>
            <a:pPr indent="0" marL="0">
              <a:buNone/>
            </a:pPr>
            <a:r>
              <a:rPr lang="en-US" sz="17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etwork  </a:t>
            </a:r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hermal  </a:t>
            </a:r>
            <a:pPr indent="0" marL="0">
              <a:buNone/>
            </a:pPr>
            <a:r>
              <a:rPr lang="en-US" sz="17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  </a:t>
            </a:r>
            <a:pPr indent="0" marL="0">
              <a:buNone/>
            </a:pPr>
            <a:r>
              <a:rPr lang="en-US" sz="17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nalysis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36576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 ดูแลความปลอดภัยโรงงานอัจฉริยะแบบครบวงจร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365760" y="3337560"/>
            <a:ext cx="2029968" cy="457200"/>
          </a:xfrm>
          <a:prstGeom prst="rect">
            <a:avLst/>
          </a:prstGeom>
          <a:solidFill>
            <a:srgbClr val="0D1B2E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8100000">
              <a:srgbClr val="00D4FF">
                <a:alpha val="5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65760" y="33375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2542032" y="3337560"/>
            <a:ext cx="2029968" cy="457200"/>
          </a:xfrm>
          <a:prstGeom prst="rect">
            <a:avLst/>
          </a:prstGeom>
          <a:solidFill>
            <a:srgbClr val="0D1B2E"/>
          </a:solidFill>
          <a:ln w="15240">
            <a:solidFill>
              <a:srgbClr val="00B4A0"/>
            </a:solidFill>
            <a:prstDash val="solid"/>
          </a:ln>
          <a:effectLst>
            <a:outerShdw sx="100000" sy="100000" kx="0" ky="0" algn="bl" rotWithShape="0" blurRad="101600" dist="50800" dir="8100000">
              <a:srgbClr val="00B4A0">
                <a:alpha val="5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2542032" y="33375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Zone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718304" y="3337560"/>
            <a:ext cx="2029968" cy="457200"/>
          </a:xfrm>
          <a:prstGeom prst="rect">
            <a:avLst/>
          </a:prstGeom>
          <a:solidFill>
            <a:srgbClr val="0D1B2E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50800" dir="8100000">
              <a:srgbClr val="FF8C00">
                <a:alpha val="5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718304" y="33375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894576" y="3337560"/>
            <a:ext cx="2029968" cy="45720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87"/>
            </a:solidFill>
            <a:prstDash val="solid"/>
          </a:ln>
          <a:effectLst>
            <a:outerShdw sx="100000" sy="100000" kx="0" ky="0" algn="bl" rotWithShape="0" blurRad="101600" dist="50800" dir="8100000">
              <a:srgbClr val="00FF87">
                <a:alpha val="5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894576" y="33375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 Alert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ทำไมโรงงานไทยถึงต้องการ ZENTRA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749808"/>
            <a:ext cx="2029968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2D55"/>
            </a:solidFill>
            <a:prstDash val="solid"/>
          </a:ln>
          <a:effectLst>
            <a:outerShdw sx="100000" sy="100000" kx="0" ky="0" algn="bl" rotWithShape="0" blurRad="152400" dist="50800" dir="8100000">
              <a:srgbClr val="FF2D55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868680"/>
            <a:ext cx="530352" cy="5303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" y="14630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62,042ราย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228600" y="2121408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ลูกจ้างบาดเจ็บจากงาน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ปี 2566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404872" y="749808"/>
            <a:ext cx="2029968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52400" dist="50800" dir="8100000">
              <a:srgbClr val="FF8C00">
                <a:alpha val="4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868680"/>
            <a:ext cx="530352" cy="5303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04872" y="14630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2404872" y="2121408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อุบัติเหตุ เกิดจาก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ไม่สวม PPE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81144" y="749808"/>
            <a:ext cx="2029968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7B2FFF">
                <a:alpha val="4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868680"/>
            <a:ext cx="530352" cy="5303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581144" y="14630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฿400K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4581144" y="2121408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ค่าปรับสูงสุด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ต่อครั้ง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757416" y="749808"/>
            <a:ext cx="2029968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52400" dist="50800" dir="8100000">
              <a:srgbClr val="FF8C00">
                <a:alpha val="4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868680"/>
            <a:ext cx="530352" cy="5303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57416" y="146304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+15%/ปี</a:t>
            </a:r>
            <a:endParaRPr lang="en-US" sz="3600" dirty="0"/>
          </a:p>
        </p:txBody>
      </p:sp>
      <p:sp>
        <p:nvSpPr>
          <p:cNvPr id="29" name="Text 23"/>
          <p:cNvSpPr/>
          <p:nvPr/>
        </p:nvSpPr>
        <p:spPr>
          <a:xfrm>
            <a:off x="6757416" y="2121408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เพิ่มขึ้นทุกปี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228600" y="2880360"/>
            <a:ext cx="2029968" cy="1920240"/>
          </a:xfrm>
          <a:prstGeom prst="rect">
            <a:avLst/>
          </a:prstGeom>
          <a:solidFill>
            <a:srgbClr val="0A1628"/>
          </a:solidFill>
          <a:ln w="10160">
            <a:solidFill>
              <a:srgbClr val="FF2D5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28600" y="2880360"/>
            <a:ext cx="2029968" cy="54864"/>
          </a:xfrm>
          <a:prstGeom prst="rect">
            <a:avLst/>
          </a:prstGeom>
          <a:solidFill>
            <a:srgbClr val="FF2D55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44368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4088" y="29443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Violation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20040" y="3401568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คนงานไม่สวม PPE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ครบ — อุบัติเหตุสูง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2404872" y="2880360"/>
            <a:ext cx="2029968" cy="1920240"/>
          </a:xfrm>
          <a:prstGeom prst="rect">
            <a:avLst/>
          </a:prstGeom>
          <a:solidFill>
            <a:srgbClr val="0A1628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404872" y="2880360"/>
            <a:ext cx="2029968" cy="54864"/>
          </a:xfrm>
          <a:prstGeom prst="rect">
            <a:avLst/>
          </a:prstGeom>
          <a:solidFill>
            <a:srgbClr val="7B2FF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0592" y="294436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880360" y="29443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Breach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2496312" y="3401568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เข้าพื้นที่อันตราย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โดยไม่ได้รับอนุญาต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81144" y="2880360"/>
            <a:ext cx="2029968" cy="1920240"/>
          </a:xfrm>
          <a:prstGeom prst="rect">
            <a:avLst/>
          </a:prstGeom>
          <a:solidFill>
            <a:srgbClr val="0A1628"/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581144" y="2880360"/>
            <a:ext cx="2029968" cy="54864"/>
          </a:xfrm>
          <a:prstGeom prst="rect">
            <a:avLst/>
          </a:prstGeom>
          <a:solidFill>
            <a:srgbClr val="FF8C00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2944368"/>
            <a:ext cx="384048" cy="38404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56632" y="29443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4672584" y="3401568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หมดสติ ล้มกะทันหัน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ไม่มีใครรู้ทัน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6757416" y="2880360"/>
            <a:ext cx="2029968" cy="1920240"/>
          </a:xfrm>
          <a:prstGeom prst="rect">
            <a:avLst/>
          </a:prstGeom>
          <a:solidFill>
            <a:srgbClr val="0A1628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757416" y="2880360"/>
            <a:ext cx="2029968" cy="54864"/>
          </a:xfrm>
          <a:prstGeom prst="rect">
            <a:avLst/>
          </a:prstGeom>
          <a:solidFill>
            <a:srgbClr val="8899AA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2944368"/>
            <a:ext cx="384048" cy="38404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232904" y="29443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เดิมทำได้แค่บันทึก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6848856" y="3401568"/>
            <a:ext cx="1874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AI วิเคราะห์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หรือแจ้งเตือนอัตโนมัติ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  —  1 ระบบ  3 โมดูล  กล้องชุดเดียว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194560" cy="2194560"/>
          </a:xfrm>
          <a:prstGeom prst="ellipse">
            <a:avLst/>
          </a:prstGeom>
          <a:solidFill>
            <a:srgbClr val="0D1B2E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D4FF">
                <a:alpha val="7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1691640"/>
            <a:ext cx="1060704" cy="10607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474720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11680" y="2468880"/>
            <a:ext cx="146304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669280" y="2468880"/>
            <a:ext cx="1463040" cy="0"/>
          </a:xfrm>
          <a:prstGeom prst="line">
            <a:avLst/>
          </a:prstGeom>
          <a:noFill/>
          <a:ln w="12700">
            <a:solidFill>
              <a:srgbClr val="00B4A0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572000" y="3566160"/>
            <a:ext cx="0" cy="731520"/>
          </a:xfrm>
          <a:prstGeom prst="line">
            <a:avLst/>
          </a:prstGeom>
          <a:noFill/>
          <a:ln w="12700">
            <a:solidFill>
              <a:srgbClr val="FF8C0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82880" y="1005840"/>
            <a:ext cx="1920240" cy="2926080"/>
          </a:xfrm>
          <a:prstGeom prst="rect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D4FF">
                <a:alpha val="5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82880" y="1005840"/>
            <a:ext cx="1920240" cy="7315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43000"/>
            <a:ext cx="777240" cy="7772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82880" y="1993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256032" y="263347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Goggles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Boots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040880" y="1005840"/>
            <a:ext cx="1920240" cy="2926080"/>
          </a:xfrm>
          <a:prstGeom prst="rect">
            <a:avLst/>
          </a:prstGeom>
          <a:solidFill>
            <a:srgbClr val="0D1B2E"/>
          </a:solidFill>
          <a:ln w="19050">
            <a:solidFill>
              <a:srgbClr val="00B4A0"/>
            </a:solidFill>
            <a:prstDash val="solid"/>
          </a:ln>
          <a:effectLst>
            <a:outerShdw sx="100000" sy="100000" kx="0" ky="0" algn="bl" rotWithShape="0" blurRad="177800" dist="50800" dir="8100000">
              <a:srgbClr val="00B4A0">
                <a:alpha val="5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040880" y="1005840"/>
            <a:ext cx="1920240" cy="73152"/>
          </a:xfrm>
          <a:prstGeom prst="rect">
            <a:avLst/>
          </a:prstGeom>
          <a:solidFill>
            <a:srgbClr val="00B4A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1143000"/>
            <a:ext cx="777240" cy="7772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40880" y="19933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114032" y="2633472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Zone บน floor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แจ้งเตือนทันที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violation log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017520" y="3703320"/>
            <a:ext cx="3108960" cy="1188720"/>
          </a:xfrm>
          <a:prstGeom prst="rect">
            <a:avLst/>
          </a:prstGeom>
          <a:solidFill>
            <a:srgbClr val="0D1B2E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77800" dist="50800" dir="8100000">
              <a:srgbClr val="FF8C00">
                <a:alpha val="5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017520" y="3703320"/>
            <a:ext cx="3108960" cy="73152"/>
          </a:xfrm>
          <a:prstGeom prst="rect">
            <a:avLst/>
          </a:prstGeom>
          <a:solidFill>
            <a:srgbClr val="FF8C0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822192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767328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  (ไม่ใช้ thermal)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3090672" y="427939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· Abnormal Posture · Gait Anomaly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749808"/>
            <a:ext cx="1463040" cy="1737360"/>
          </a:xfrm>
          <a:prstGeom prst="rect">
            <a:avLst/>
          </a:prstGeom>
          <a:solidFill>
            <a:srgbClr val="0D1B2E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D4FF">
                <a:alpha val="5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77824"/>
            <a:ext cx="640080" cy="640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5760" y="1591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576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1,500–3,500 ฿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828800" y="1572768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38528" y="14264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057400" y="749808"/>
            <a:ext cx="1463040" cy="1737360"/>
          </a:xfrm>
          <a:prstGeom prst="rect">
            <a:avLst/>
          </a:prstGeom>
          <a:solidFill>
            <a:srgbClr val="0D1B2E"/>
          </a:solidFill>
          <a:ln w="15240">
            <a:solidFill>
              <a:srgbClr val="00B4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B4A0">
                <a:alpha val="5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877824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057400" y="1591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205740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520440" y="1572768"/>
            <a:ext cx="228600" cy="0"/>
          </a:xfrm>
          <a:prstGeom prst="line">
            <a:avLst/>
          </a:prstGeom>
          <a:noFill/>
          <a:ln w="19050">
            <a:solidFill>
              <a:srgbClr val="00B4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30168" y="14264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749040" y="749808"/>
            <a:ext cx="1463040" cy="1737360"/>
          </a:xfrm>
          <a:prstGeom prst="rect">
            <a:avLst/>
          </a:prstGeom>
          <a:solidFill>
            <a:srgbClr val="0D1B2E"/>
          </a:solidFill>
          <a:ln w="1524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7B2FFF">
                <a:alpha val="5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77824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749040" y="1591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Pose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374904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212080" y="1572768"/>
            <a:ext cx="228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21808" y="14264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440680" y="749808"/>
            <a:ext cx="1463040" cy="1737360"/>
          </a:xfrm>
          <a:prstGeom prst="rect">
            <a:avLst/>
          </a:prstGeom>
          <a:solidFill>
            <a:srgbClr val="0D1B2E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52400" dist="50800" dir="8100000">
              <a:srgbClr val="FF8C00">
                <a:alpha val="50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877824"/>
            <a:ext cx="640080" cy="6400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1591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Detection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544068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903720" y="1572768"/>
            <a:ext cx="228600" cy="0"/>
          </a:xfrm>
          <a:prstGeom prst="line">
            <a:avLst/>
          </a:prstGeom>
          <a:noFill/>
          <a:ln w="19050">
            <a:solidFill>
              <a:srgbClr val="FF8C0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013448" y="14264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7132320" y="749808"/>
            <a:ext cx="1463040" cy="1737360"/>
          </a:xfrm>
          <a:prstGeom prst="rect">
            <a:avLst/>
          </a:prstGeom>
          <a:solidFill>
            <a:srgbClr val="0D1B2E"/>
          </a:solidFill>
          <a:ln w="15240">
            <a:solidFill>
              <a:srgbClr val="FF2D55"/>
            </a:solidFill>
            <a:prstDash val="solid"/>
          </a:ln>
          <a:effectLst>
            <a:outerShdw sx="100000" sy="100000" kx="0" ky="0" algn="bl" rotWithShape="0" blurRad="152400" dist="50800" dir="8100000">
              <a:srgbClr val="FF2D55">
                <a:alpha val="50000"/>
              </a:srgbClr>
            </a:outerShdw>
          </a:effectLst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877824"/>
            <a:ext cx="640080" cy="6400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32320" y="1591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713232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28600" y="2788920"/>
            <a:ext cx="868680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37"/>
          <p:cNvSpPr/>
          <p:nvPr/>
        </p:nvSpPr>
        <p:spPr>
          <a:xfrm>
            <a:off x="365760" y="2788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228600" y="3182112"/>
            <a:ext cx="2743200" cy="1719072"/>
          </a:xfrm>
          <a:prstGeom prst="rect">
            <a:avLst/>
          </a:prstGeom>
          <a:solidFill>
            <a:srgbClr val="0D1B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38328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CV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338328" y="36393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(PPE)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(Tracking)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Fall Detect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+ TensorRT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3127248" y="3182112"/>
            <a:ext cx="2743200" cy="1719072"/>
          </a:xfrm>
          <a:prstGeom prst="rect">
            <a:avLst/>
          </a:prstGeom>
          <a:solidFill>
            <a:srgbClr val="0D1B2E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236976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3236976" y="36393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 (1.5-3.5K฿)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Nano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DHT22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Alarm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RTSP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6025896" y="3182112"/>
            <a:ext cx="2743200" cy="1719072"/>
          </a:xfrm>
          <a:prstGeom prst="rect">
            <a:avLst/>
          </a:prstGeom>
          <a:solidFill>
            <a:srgbClr val="0D1B2E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135624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6135624" y="3639312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Messaging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+ Grafana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ZENTRA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74980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D4FF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749808"/>
            <a:ext cx="73152" cy="192024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950976"/>
            <a:ext cx="594360" cy="5943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04" y="950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ใช้กล้องเดิม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93192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ต้นทุน ฿0 สำหรับ PPE module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163824" y="74980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27000" dist="50800" dir="8100000">
              <a:srgbClr val="FF8C00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63824" y="749808"/>
            <a:ext cx="73152" cy="1920240"/>
          </a:xfrm>
          <a:prstGeom prst="rect">
            <a:avLst/>
          </a:prstGeom>
          <a:solidFill>
            <a:srgbClr val="FF8C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950976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68496" y="950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ไม่ต้องใช้ Thermal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300984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Heat Stroke ด้วย Pose AI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71616" y="74980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87"/>
            </a:solidFill>
            <a:prstDash val="solid"/>
          </a:ln>
          <a:effectLst>
            <a:outerShdw sx="100000" sy="100000" kx="0" ky="0" algn="bl" rotWithShape="0" blurRad="127000" dist="50800" dir="8100000">
              <a:srgbClr val="00FF87">
                <a:alpha val="4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71616" y="749808"/>
            <a:ext cx="73152" cy="1920240"/>
          </a:xfrm>
          <a:prstGeom prst="rect">
            <a:avLst/>
          </a:prstGeom>
          <a:solidFill>
            <a:srgbClr val="00FF87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950976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76288" y="950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LINE OA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08776" y="17556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ไม่ต้องลง App ใหม่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56032" y="285292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7B2FFF"/>
            </a:solidFill>
            <a:prstDash val="solid"/>
          </a:ln>
          <a:effectLst>
            <a:outerShdw sx="100000" sy="100000" kx="0" ky="0" algn="bl" rotWithShape="0" blurRad="127000" dist="50800" dir="8100000">
              <a:srgbClr val="7B2FFF">
                <a:alpha val="4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56032" y="2852928"/>
            <a:ext cx="73152" cy="1920240"/>
          </a:xfrm>
          <a:prstGeom prst="rect">
            <a:avLst/>
          </a:prstGeom>
          <a:solidFill>
            <a:srgbClr val="7B2FF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054096"/>
            <a:ext cx="594360" cy="5943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60704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Compliant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393192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 on-device 100%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3163824" y="285292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87"/>
            </a:solidFill>
            <a:prstDash val="solid"/>
          </a:ln>
          <a:effectLst>
            <a:outerShdw sx="100000" sy="100000" kx="0" ky="0" algn="bl" rotWithShape="0" blurRad="127000" dist="50800" dir="8100000">
              <a:srgbClr val="00FF87">
                <a:alpha val="4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63824" y="2852928"/>
            <a:ext cx="73152" cy="1920240"/>
          </a:xfrm>
          <a:prstGeom prst="rect">
            <a:avLst/>
          </a:prstGeom>
          <a:solidFill>
            <a:srgbClr val="00FF87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054096"/>
            <a:ext cx="594360" cy="5943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68496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Auto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3300984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 อัตโนมัติ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6071616" y="2852928"/>
            <a:ext cx="274320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D4FF">
                <a:alpha val="4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071616" y="2852928"/>
            <a:ext cx="73152" cy="192024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054096"/>
            <a:ext cx="594360" cy="5943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76288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ชัดเจน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6208776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ประหยัด 200–400K฿/ปี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&amp;  BENEFITS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749808"/>
            <a:ext cx="2606040" cy="1691640"/>
          </a:xfrm>
          <a:prstGeom prst="rect">
            <a:avLst/>
          </a:prstGeom>
          <a:solidFill>
            <a:srgbClr val="0D1B2E"/>
          </a:solidFill>
          <a:ln w="19050">
            <a:solidFill>
              <a:srgbClr val="00FF87"/>
            </a:solidFill>
            <a:prstDash val="solid"/>
          </a:ln>
          <a:effectLst>
            <a:outerShdw sx="100000" sy="100000" kx="0" ky="0" algn="bl" rotWithShape="0" blurRad="203200" dist="50800" dir="8100000">
              <a:srgbClr val="00FF87">
                <a:alpha val="5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841248"/>
            <a:ext cx="594360" cy="594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4048" y="914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50–70%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384048" y="1691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ลดอุบัติเหตุ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violation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18688" y="749808"/>
            <a:ext cx="2606040" cy="1691640"/>
          </a:xfrm>
          <a:prstGeom prst="rect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03200" dist="50800" dir="8100000">
              <a:srgbClr val="00D4FF">
                <a:alpha val="5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841248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18688" y="914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฿200–400K</a:t>
            </a:r>
            <a:endParaRPr lang="en-US" sz="3800" dirty="0"/>
          </a:p>
        </p:txBody>
      </p:sp>
      <p:sp>
        <p:nvSpPr>
          <p:cNvPr id="20" name="Text 16"/>
          <p:cNvSpPr/>
          <p:nvPr/>
        </p:nvSpPr>
        <p:spPr>
          <a:xfrm>
            <a:off x="3218688" y="1691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ประหยัด/ปี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ต่อโรงงาน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53328" y="749808"/>
            <a:ext cx="2606040" cy="1691640"/>
          </a:xfrm>
          <a:prstGeom prst="rect">
            <a:avLst/>
          </a:prstGeom>
          <a:solidFill>
            <a:srgbClr val="0D1B2E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203200" dist="50800" dir="8100000">
              <a:srgbClr val="FF8C00">
                <a:alpha val="5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841248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53328" y="914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วิ</a:t>
            </a:r>
            <a:endParaRPr lang="en-US" sz="3800" dirty="0"/>
          </a:p>
        </p:txBody>
      </p:sp>
      <p:sp>
        <p:nvSpPr>
          <p:cNvPr id="24" name="Text 19"/>
          <p:cNvSpPr/>
          <p:nvPr/>
        </p:nvSpPr>
        <p:spPr>
          <a:xfrm>
            <a:off x="6053328" y="16916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84048" y="2651760"/>
            <a:ext cx="2606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" y="2651760"/>
            <a:ext cx="2606040" cy="475488"/>
          </a:xfrm>
          <a:prstGeom prst="rect">
            <a:avLst/>
          </a:prstGeom>
          <a:solidFill>
            <a:srgbClr val="00B4A0">
              <a:alpha val="75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68833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0976" y="26883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21208" y="3218688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PPE violation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Heat Stroke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safety culture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3218688" y="2651760"/>
            <a:ext cx="2606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18688" y="2651760"/>
            <a:ext cx="2606040" cy="475488"/>
          </a:xfrm>
          <a:prstGeom prst="rect">
            <a:avLst/>
          </a:prstGeom>
          <a:solidFill>
            <a:srgbClr val="00D4FF">
              <a:alpha val="75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268833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85616" y="26883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3355848" y="3218688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ลดค่าปรับ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ลดค่าชดเชย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วัดได้จริง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6053328" y="2651760"/>
            <a:ext cx="2606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053328" y="2651760"/>
            <a:ext cx="2606040" cy="475488"/>
          </a:xfrm>
          <a:prstGeom prst="rect">
            <a:avLst/>
          </a:prstGeom>
          <a:solidFill>
            <a:srgbClr val="7B2FFF">
              <a:alpha val="75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688336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20256" y="26883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6190488" y="3218688"/>
            <a:ext cx="2377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auto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หลักฐาน audit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 compliant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381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6 MONTHS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499616"/>
            <a:ext cx="329184" cy="329184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101600" dist="50800" dir="8100000">
              <a:srgbClr val="00D4FF">
                <a:alpha val="8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" y="84124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1499616" cy="2907792"/>
          </a:xfrm>
          <a:prstGeom prst="rect">
            <a:avLst/>
          </a:prstGeom>
          <a:solidFill>
            <a:srgbClr val="0D1B2E"/>
          </a:solidFill>
          <a:ln w="1397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38528"/>
            <a:ext cx="1499616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" y="2651760"/>
            <a:ext cx="1353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เก็บภาพ PPE 500+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(Roboflow)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กล้อง +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05456" y="1499616"/>
            <a:ext cx="329184" cy="329184"/>
          </a:xfrm>
          <a:prstGeom prst="ellipse">
            <a:avLst/>
          </a:prstGeom>
          <a:solidFill>
            <a:srgbClr val="00B4A0"/>
          </a:solidFill>
          <a:ln/>
          <a:effectLst>
            <a:outerShdw sx="100000" sy="100000" kx="0" ky="0" algn="bl" rotWithShape="0" blurRad="101600" dist="50800" dir="8100000">
              <a:srgbClr val="00B4A0">
                <a:alpha val="8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0" y="84124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39696" y="1938528"/>
            <a:ext cx="1499616" cy="2907792"/>
          </a:xfrm>
          <a:prstGeom prst="rect">
            <a:avLst/>
          </a:prstGeom>
          <a:solidFill>
            <a:srgbClr val="0D1B2E"/>
          </a:solidFill>
          <a:ln w="13970">
            <a:solidFill>
              <a:srgbClr val="00B4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9696" y="1938528"/>
            <a:ext cx="1499616" cy="54864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24" name="Text 22"/>
          <p:cNvSpPr/>
          <p:nvPr/>
        </p:nvSpPr>
        <p:spPr>
          <a:xfrm>
            <a:off x="2139696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12848" y="2651760"/>
            <a:ext cx="1353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rule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≥85%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87952" y="1499616"/>
            <a:ext cx="329184" cy="329184"/>
          </a:xfrm>
          <a:prstGeom prst="ellipse">
            <a:avLst/>
          </a:prstGeom>
          <a:solidFill>
            <a:srgbClr val="7B2FFF"/>
          </a:solidFill>
          <a:ln/>
          <a:effectLst>
            <a:outerShdw sx="100000" sy="100000" kx="0" ky="0" algn="bl" rotWithShape="0" blurRad="101600" dist="50800" dir="8100000">
              <a:srgbClr val="7B2FFF">
                <a:alpha val="8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68496" y="84124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22192" y="1938528"/>
            <a:ext cx="1499616" cy="2907792"/>
          </a:xfrm>
          <a:prstGeom prst="rect">
            <a:avLst/>
          </a:prstGeom>
          <a:solidFill>
            <a:srgbClr val="0D1B2E"/>
          </a:solidFill>
          <a:ln w="13970">
            <a:solidFill>
              <a:srgbClr val="7B2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22192" y="1938528"/>
            <a:ext cx="1499616" cy="54864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895344" y="2651760"/>
            <a:ext cx="1353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OA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polygon tool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MQTT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70448" y="1499616"/>
            <a:ext cx="329184" cy="329184"/>
          </a:xfrm>
          <a:prstGeom prst="ellipse">
            <a:avLst/>
          </a:prstGeom>
          <a:solidFill>
            <a:srgbClr val="FF8C00"/>
          </a:solidFill>
          <a:ln/>
          <a:effectLst>
            <a:outerShdw sx="100000" sy="100000" kx="0" ky="0" algn="bl" rotWithShape="0" blurRad="101600" dist="50800" dir="8100000">
              <a:srgbClr val="FF8C00">
                <a:alpha val="8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50992" y="84124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04688" y="1938528"/>
            <a:ext cx="1499616" cy="2907792"/>
          </a:xfrm>
          <a:prstGeom prst="rect">
            <a:avLst/>
          </a:prstGeom>
          <a:solidFill>
            <a:srgbClr val="0D1B2E"/>
          </a:solidFill>
          <a:ln w="13970">
            <a:solidFill>
              <a:srgbClr val="FF8C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04688" y="1938528"/>
            <a:ext cx="1499616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6" name="Text 34"/>
          <p:cNvSpPr/>
          <p:nvPr/>
        </p:nvSpPr>
        <p:spPr>
          <a:xfrm>
            <a:off x="5504688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577840" y="2651760"/>
            <a:ext cx="1353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โรงงาน 1 แห่ง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feedback จริง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false positive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52944" y="1499616"/>
            <a:ext cx="329184" cy="329184"/>
          </a:xfrm>
          <a:prstGeom prst="ellipse">
            <a:avLst/>
          </a:prstGeom>
          <a:solidFill>
            <a:srgbClr val="00FF87"/>
          </a:solidFill>
          <a:ln/>
          <a:effectLst>
            <a:outerShdw sx="100000" sy="100000" kx="0" ky="0" algn="bl" rotWithShape="0" blurRad="101600" dist="50800" dir="8100000">
              <a:srgbClr val="00FF87">
                <a:alpha val="8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33488" y="841248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87184" y="1938528"/>
            <a:ext cx="1499616" cy="2907792"/>
          </a:xfrm>
          <a:prstGeom prst="rect">
            <a:avLst/>
          </a:prstGeom>
          <a:solidFill>
            <a:srgbClr val="0D1B2E"/>
          </a:solidFill>
          <a:ln w="13970">
            <a:solidFill>
              <a:srgbClr val="00FF8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87184" y="1938528"/>
            <a:ext cx="1499616" cy="54864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42" name="Text 40"/>
          <p:cNvSpPr/>
          <p:nvPr/>
        </p:nvSpPr>
        <p:spPr>
          <a:xfrm>
            <a:off x="7187184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F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260336" y="2651760"/>
            <a:ext cx="1353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 report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พร้อม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สรุปผล pilot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4-5  ·  PPE model acc ~88%  ·  Fall detection prototype พิสูจน์แล้ว  ·  LINE API integration พร้อม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73936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32304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090672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065776"/>
            <a:ext cx="9144000" cy="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5080">
            <a:solidFill>
              <a:srgbClr val="1A2E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3520" y="274320"/>
            <a:ext cx="3474720" cy="347472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822960"/>
            <a:ext cx="2194560" cy="2194560"/>
          </a:xfrm>
          <a:prstGeom prst="ellipse">
            <a:avLst/>
          </a:prstGeom>
          <a:solidFill>
            <a:srgbClr val="00D4FF">
              <a:alpha val="12000"/>
            </a:srgbClr>
          </a:solidFill>
          <a:ln w="1905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217920" y="548640"/>
            <a:ext cx="2194560" cy="21945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65760" y="50292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ZENTRA</a:t>
            </a:r>
            <a:endParaRPr lang="en-US" sz="7200" dirty="0"/>
          </a:p>
        </p:txBody>
      </p:sp>
      <p:sp>
        <p:nvSpPr>
          <p:cNvPr id="28" name="Shape 25"/>
          <p:cNvSpPr/>
          <p:nvPr/>
        </p:nvSpPr>
        <p:spPr>
          <a:xfrm>
            <a:off x="365760" y="1664208"/>
            <a:ext cx="4937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182880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5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เพราะทุกอุบัติเหตุในโรงงาน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365760" y="226771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ป้องกันได้ก่อนที่มันจะเกิด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365760" y="3017520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017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PPE Compliance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200400" y="3017520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91840" y="3017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 Zone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035040" y="3017520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0" y="3017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Heat Stroke Detection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65760" y="3639312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6393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 OA Alert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200400" y="3639312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91840" y="36393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PDPA Compliant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035040" y="3639312"/>
            <a:ext cx="2651760" cy="493776"/>
          </a:xfrm>
          <a:prstGeom prst="rect">
            <a:avLst/>
          </a:prstGeom>
          <a:solidFill>
            <a:srgbClr val="0D1B2E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26480" y="36393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 45001 Auto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CEDT Innovation Summit 2026  ·  IndustryTech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 Safety Suite</dc:title>
  <dc:subject>PptxGenJS Presentation</dc:subject>
  <dc:creator>PptxGenJS</dc:creator>
  <cp:lastModifiedBy>PptxGenJS</cp:lastModifiedBy>
  <cp:revision>1</cp:revision>
  <dcterms:created xsi:type="dcterms:W3CDTF">2026-03-15T15:55:15Z</dcterms:created>
  <dcterms:modified xsi:type="dcterms:W3CDTF">2026-03-15T15:55:15Z</dcterms:modified>
</cp:coreProperties>
</file>